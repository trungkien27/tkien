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53" d="100"/>
          <a:sy n="53" d="100"/>
        </p:scale>
        <p:origin x="792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0F9DF-1B87-48B2-8B1D-EE861DB10DBB}" type="datetimeFigureOut">
              <a:rPr lang="vi-VN" smtClean="0"/>
              <a:t>26/11/2020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6DF83-6D61-411E-A2FD-A1C869C17E4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35056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0F9DF-1B87-48B2-8B1D-EE861DB10DBB}" type="datetimeFigureOut">
              <a:rPr lang="vi-VN" smtClean="0"/>
              <a:t>26/11/2020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6DF83-6D61-411E-A2FD-A1C869C17E4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76703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0F9DF-1B87-48B2-8B1D-EE861DB10DBB}" type="datetimeFigureOut">
              <a:rPr lang="vi-VN" smtClean="0"/>
              <a:t>26/11/2020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6DF83-6D61-411E-A2FD-A1C869C17E4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74193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0F9DF-1B87-48B2-8B1D-EE861DB10DBB}" type="datetimeFigureOut">
              <a:rPr lang="vi-VN" smtClean="0"/>
              <a:t>26/11/2020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6DF83-6D61-411E-A2FD-A1C869C17E4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21169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0F9DF-1B87-48B2-8B1D-EE861DB10DBB}" type="datetimeFigureOut">
              <a:rPr lang="vi-VN" smtClean="0"/>
              <a:t>26/11/2020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6DF83-6D61-411E-A2FD-A1C869C17E4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85055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0F9DF-1B87-48B2-8B1D-EE861DB10DBB}" type="datetimeFigureOut">
              <a:rPr lang="vi-VN" smtClean="0"/>
              <a:t>26/11/2020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6DF83-6D61-411E-A2FD-A1C869C17E4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97234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0F9DF-1B87-48B2-8B1D-EE861DB10DBB}" type="datetimeFigureOut">
              <a:rPr lang="vi-VN" smtClean="0"/>
              <a:t>26/11/2020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6DF83-6D61-411E-A2FD-A1C869C17E4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47177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0F9DF-1B87-48B2-8B1D-EE861DB10DBB}" type="datetimeFigureOut">
              <a:rPr lang="vi-VN" smtClean="0"/>
              <a:t>26/11/2020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6DF83-6D61-411E-A2FD-A1C869C17E4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52583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0F9DF-1B87-48B2-8B1D-EE861DB10DBB}" type="datetimeFigureOut">
              <a:rPr lang="vi-VN" smtClean="0"/>
              <a:t>26/11/2020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6DF83-6D61-411E-A2FD-A1C869C17E4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15851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0F9DF-1B87-48B2-8B1D-EE861DB10DBB}" type="datetimeFigureOut">
              <a:rPr lang="vi-VN" smtClean="0"/>
              <a:t>26/11/2020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6DF83-6D61-411E-A2FD-A1C869C17E4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01785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0F9DF-1B87-48B2-8B1D-EE861DB10DBB}" type="datetimeFigureOut">
              <a:rPr lang="vi-VN" smtClean="0"/>
              <a:t>26/11/2020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6DF83-6D61-411E-A2FD-A1C869C17E4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93186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00F9DF-1B87-48B2-8B1D-EE861DB10DBB}" type="datetimeFigureOut">
              <a:rPr lang="vi-VN" smtClean="0"/>
              <a:t>26/11/2020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06DF83-6D61-411E-A2FD-A1C869C17E4D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67665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361217B-B816-40C1-9822-4ABF1ACA65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88" y="0"/>
            <a:ext cx="9193319" cy="51435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4649642-FA58-421F-96A9-DBE6C6E95D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2592" y="0"/>
            <a:ext cx="4001096" cy="228062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8C51C64-666C-4F82-8D36-68B9A0453A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88" y="3706188"/>
            <a:ext cx="1233487" cy="135122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C870000-50F1-48FA-AAB3-6C2A30AA78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48110">
            <a:off x="1901026" y="1824880"/>
            <a:ext cx="542955" cy="68817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FBB0F0D-511D-4EB6-87C7-9EA17D86DB3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834330">
            <a:off x="7625356" y="760078"/>
            <a:ext cx="1039055" cy="1138238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0582F497-644C-4E17-BA3E-5C15D5132D8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173645">
            <a:off x="5406686" y="1979421"/>
            <a:ext cx="717899" cy="786426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8FB025C7-7614-439A-A6F0-CDB65F99D73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624686">
            <a:off x="3624950" y="2168967"/>
            <a:ext cx="638601" cy="699558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964F51DA-CA50-4FDA-A267-ADC12A9A1BF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670" y="329764"/>
            <a:ext cx="746922" cy="946695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3A5E7307-D895-431E-B6C3-991C1956070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246360">
            <a:off x="7794521" y="3956739"/>
            <a:ext cx="952487" cy="1043406"/>
          </a:xfrm>
          <a:prstGeom prst="rect">
            <a:avLst/>
          </a:prstGeom>
        </p:spPr>
      </p:pic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65902825-C88D-4F2F-976E-062186E1FBDE}"/>
              </a:ext>
            </a:extLst>
          </p:cNvPr>
          <p:cNvSpPr/>
          <p:nvPr/>
        </p:nvSpPr>
        <p:spPr>
          <a:xfrm>
            <a:off x="2582437" y="3213154"/>
            <a:ext cx="1807369" cy="84857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MS Reference Sans Serif" panose="020B0604030504040204" pitchFamily="34" charset="0"/>
              </a:rPr>
              <a:t>CỐT TR</a:t>
            </a:r>
            <a:r>
              <a:rPr lang="vi-VN" sz="2000" dirty="0">
                <a:latin typeface="MS Reference Sans Serif" panose="020B0604030504040204" pitchFamily="34" charset="0"/>
              </a:rPr>
              <a:t>UYỆN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F13DC12F-4655-4ABE-9839-74CAE9B7CE97}"/>
              </a:ext>
            </a:extLst>
          </p:cNvPr>
          <p:cNvSpPr/>
          <p:nvPr/>
        </p:nvSpPr>
        <p:spPr>
          <a:xfrm>
            <a:off x="4444259" y="3213154"/>
            <a:ext cx="1807369" cy="875288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000" dirty="0">
                <a:latin typeface="MS Reference Sans Serif" panose="020B0604030504040204" pitchFamily="34" charset="0"/>
              </a:rPr>
              <a:t>CÁCH CHƠI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2CFB6BA2-C86E-4CBA-91A2-768CCB17D4D3}"/>
              </a:ext>
            </a:extLst>
          </p:cNvPr>
          <p:cNvSpPr/>
          <p:nvPr/>
        </p:nvSpPr>
        <p:spPr>
          <a:xfrm>
            <a:off x="2582437" y="4120744"/>
            <a:ext cx="3696891" cy="77152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000" dirty="0">
                <a:latin typeface="MS Reference Sans Serif" panose="020B0604030504040204" pitchFamily="34" charset="0"/>
              </a:rPr>
              <a:t>NGUYỄN TRUNG KIÊN</a:t>
            </a:r>
          </a:p>
        </p:txBody>
      </p:sp>
    </p:spTree>
    <p:extLst>
      <p:ext uri="{BB962C8B-B14F-4D97-AF65-F5344CB8AC3E}">
        <p14:creationId xmlns:p14="http://schemas.microsoft.com/office/powerpoint/2010/main" val="1136345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3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3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3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3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3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3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49" grpId="0" animBg="1"/>
      <p:bldP spid="5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Among Us (Role Reveal) - Sound Effect (HD)">
            <a:hlinkClick r:id="" action="ppaction://media"/>
            <a:extLst>
              <a:ext uri="{FF2B5EF4-FFF2-40B4-BE49-F238E27FC236}">
                <a16:creationId xmlns:a16="http://schemas.microsoft.com/office/drawing/2014/main" id="{B2B561FA-9813-4A1B-BF1F-AA0A28EBCE4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615054" y="4043710"/>
            <a:ext cx="803333" cy="14868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A54333C-4936-418E-8965-2C9F8C46923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341" y="757464"/>
            <a:ext cx="5714286" cy="36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66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459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7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20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BE0ED3F-99A5-4B41-81CD-58E1DF59C9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06AC336-7FCE-49BD-BE79-FC1C8A115FFE}"/>
              </a:ext>
            </a:extLst>
          </p:cNvPr>
          <p:cNvSpPr/>
          <p:nvPr/>
        </p:nvSpPr>
        <p:spPr>
          <a:xfrm>
            <a:off x="541251" y="1829127"/>
            <a:ext cx="6986588" cy="3036094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3600" b="0" i="0" dirty="0">
                <a:solidFill>
                  <a:schemeClr val="bg1"/>
                </a:solidFill>
                <a:effectLst/>
                <a:latin typeface="MS Reference Sans Serif" panose="020B0604030504040204" pitchFamily="34" charset="0"/>
              </a:rPr>
              <a:t>Ở một tương lai rất xa, khi con người đã làm chủ được công nghệ du hành không gian. </a:t>
            </a:r>
            <a:endParaRPr lang="vi-VN" sz="3600" dirty="0">
              <a:solidFill>
                <a:schemeClr val="bg1"/>
              </a:solidFill>
              <a:latin typeface="MS Reference Sans Serif" panose="020B0604030504040204" pitchFamily="34" charset="0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8030C879-D5B8-432C-B3C3-702BEAAB99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39" t="8511" r="11639" b="26259"/>
          <a:stretch>
            <a:fillRect/>
          </a:stretch>
        </p:blipFill>
        <p:spPr>
          <a:xfrm>
            <a:off x="365666" y="444699"/>
            <a:ext cx="1122904" cy="1045834"/>
          </a:xfrm>
          <a:custGeom>
            <a:avLst/>
            <a:gdLst>
              <a:gd name="connsiteX0" fmla="*/ 561452 w 1122904"/>
              <a:gd name="connsiteY0" fmla="*/ 0 h 1045834"/>
              <a:gd name="connsiteX1" fmla="*/ 1122904 w 1122904"/>
              <a:gd name="connsiteY1" fmla="*/ 522917 h 1045834"/>
              <a:gd name="connsiteX2" fmla="*/ 561452 w 1122904"/>
              <a:gd name="connsiteY2" fmla="*/ 1045834 h 1045834"/>
              <a:gd name="connsiteX3" fmla="*/ 0 w 1122904"/>
              <a:gd name="connsiteY3" fmla="*/ 522917 h 1045834"/>
              <a:gd name="connsiteX4" fmla="*/ 561452 w 1122904"/>
              <a:gd name="connsiteY4" fmla="*/ 0 h 1045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2904" h="1045834">
                <a:moveTo>
                  <a:pt x="561452" y="0"/>
                </a:moveTo>
                <a:cubicBezTo>
                  <a:pt x="871533" y="0"/>
                  <a:pt x="1122904" y="234118"/>
                  <a:pt x="1122904" y="522917"/>
                </a:cubicBezTo>
                <a:cubicBezTo>
                  <a:pt x="1122904" y="811716"/>
                  <a:pt x="871533" y="1045834"/>
                  <a:pt x="561452" y="1045834"/>
                </a:cubicBezTo>
                <a:cubicBezTo>
                  <a:pt x="251371" y="1045834"/>
                  <a:pt x="0" y="811716"/>
                  <a:pt x="0" y="522917"/>
                </a:cubicBezTo>
                <a:cubicBezTo>
                  <a:pt x="0" y="234118"/>
                  <a:pt x="251371" y="0"/>
                  <a:pt x="561452" y="0"/>
                </a:cubicBezTo>
                <a:close/>
              </a:path>
            </a:pathLst>
          </a:custGeom>
          <a:ln>
            <a:solidFill>
              <a:schemeClr val="bg1"/>
            </a:solidFill>
          </a:ln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808BAFD-147F-4BC0-A4F8-E3256B231CD8}"/>
              </a:ext>
            </a:extLst>
          </p:cNvPr>
          <p:cNvCxnSpPr>
            <a:cxnSpLocks/>
          </p:cNvCxnSpPr>
          <p:nvPr/>
        </p:nvCxnSpPr>
        <p:spPr>
          <a:xfrm flipV="1">
            <a:off x="1314450" y="1385888"/>
            <a:ext cx="3457575" cy="714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F173CF13-BB83-416C-B64D-3E9B786D047E}"/>
              </a:ext>
            </a:extLst>
          </p:cNvPr>
          <p:cNvSpPr txBox="1"/>
          <p:nvPr/>
        </p:nvSpPr>
        <p:spPr>
          <a:xfrm>
            <a:off x="1700213" y="845442"/>
            <a:ext cx="30718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MS Reference Sans Serif" panose="020B0604030504040204" pitchFamily="34" charset="0"/>
                <a:cs typeface="Times New Roman" panose="02020603050405020304" pitchFamily="18" charset="0"/>
              </a:rPr>
              <a:t>CỐT TRUYỆN</a:t>
            </a:r>
            <a:endParaRPr lang="vi-VN" sz="3200" dirty="0">
              <a:solidFill>
                <a:schemeClr val="bg1"/>
              </a:solidFill>
              <a:latin typeface="MS Reference Sans Serif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837816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52AF82D-499B-4449-B854-07340E8D5F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44000" cy="5143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DA407F-310B-4B8A-BC8C-8054EB3382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1351279"/>
            <a:ext cx="8920480" cy="3792219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86B2C80-20F4-4029-A347-4EC535BA993F}"/>
              </a:ext>
            </a:extLst>
          </p:cNvPr>
          <p:cNvSpPr/>
          <p:nvPr/>
        </p:nvSpPr>
        <p:spPr>
          <a:xfrm>
            <a:off x="309880" y="91440"/>
            <a:ext cx="8524240" cy="1351277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400" b="1" i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MS Reference Sans Serif" panose="020B0604030504040204" pitchFamily="34" charset="0"/>
              </a:rPr>
              <a:t>Mira</a:t>
            </a:r>
            <a:r>
              <a:rPr lang="vi-VN" sz="2400" b="0" i="0" dirty="0">
                <a:solidFill>
                  <a:schemeClr val="bg1"/>
                </a:solidFill>
                <a:effectLst/>
                <a:latin typeface="MS Reference Sans Serif" panose="020B0604030504040204" pitchFamily="34" charset="0"/>
              </a:rPr>
              <a:t> thành lập với mục đích vận dụng sự đa dạng sinh học của các dạng sống ngoài hành tinh để ứng dụng cho y học.</a:t>
            </a:r>
            <a:endParaRPr lang="vi-VN" sz="2400" dirty="0">
              <a:solidFill>
                <a:schemeClr val="bg1"/>
              </a:solidFill>
              <a:latin typeface="MS Reference Sans Serif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736696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36FD4D9-B470-4953-AB1E-8E57BDDDB4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10"/>
            <a:ext cx="9144000" cy="5127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6415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51ED552-1B47-4CE1-8063-54C72C6952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487F31C-9CB3-4DAC-9ED7-0152780C8333}"/>
              </a:ext>
            </a:extLst>
          </p:cNvPr>
          <p:cNvSpPr/>
          <p:nvPr/>
        </p:nvSpPr>
        <p:spPr>
          <a:xfrm>
            <a:off x="436880" y="264160"/>
            <a:ext cx="8453120" cy="1239520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400" dirty="0">
                <a:latin typeface="MS Reference Sans Serif" panose="020B0604030504040204" pitchFamily="34" charset="0"/>
              </a:rPr>
              <a:t>Các phi hành gia liên tục di chuyển qua lại giữa các hành tinh bằng tàu </a:t>
            </a:r>
            <a:r>
              <a:rPr lang="vi-VN" sz="2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MS Reference Sans Serif" panose="020B0604030504040204" pitchFamily="34" charset="0"/>
              </a:rPr>
              <a:t>The Skeld</a:t>
            </a:r>
            <a:r>
              <a:rPr lang="vi-VN" sz="2400" dirty="0">
                <a:latin typeface="MS Reference Sans Serif" panose="020B0604030504040204" pitchFamily="34" charset="0"/>
              </a:rPr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8984E2F-C7FD-4BA8-99BC-0B7116EBEB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069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586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64BAB0B-D4A1-442C-963A-F2D3258875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8442"/>
            <a:ext cx="9144000" cy="514350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18EC23B-A9FF-4056-B369-BB941D648124}"/>
              </a:ext>
            </a:extLst>
          </p:cNvPr>
          <p:cNvSpPr/>
          <p:nvPr/>
        </p:nvSpPr>
        <p:spPr>
          <a:xfrm>
            <a:off x="802640" y="1120006"/>
            <a:ext cx="7538720" cy="1940560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vi-VN" sz="2400" b="0" i="0" dirty="0">
                <a:solidFill>
                  <a:schemeClr val="bg1"/>
                </a:solidFill>
                <a:effectLst/>
                <a:latin typeface="MS Reference Sans Serif" panose="020B0604030504040204" pitchFamily="34" charset="0"/>
              </a:rPr>
              <a:t>Và câu chuyện của </a:t>
            </a:r>
            <a:r>
              <a:rPr lang="vi-VN" sz="2400" b="1" i="0" dirty="0">
                <a:solidFill>
                  <a:schemeClr val="bg1"/>
                </a:solidFill>
                <a:effectLst/>
                <a:latin typeface="MS Reference Sans Serif" panose="020B0604030504040204" pitchFamily="34" charset="0"/>
              </a:rPr>
              <a:t>Among Us</a:t>
            </a:r>
            <a:r>
              <a:rPr lang="vi-VN" sz="2400" b="0" i="0" dirty="0">
                <a:solidFill>
                  <a:schemeClr val="bg1"/>
                </a:solidFill>
                <a:effectLst/>
                <a:latin typeface="MS Reference Sans Serif" panose="020B0604030504040204" pitchFamily="34" charset="0"/>
              </a:rPr>
              <a:t> bắt đầu từ đây.</a:t>
            </a:r>
          </a:p>
          <a:p>
            <a:pPr algn="just"/>
            <a:r>
              <a:rPr lang="vi-VN" sz="2400" b="0" i="0" dirty="0">
                <a:solidFill>
                  <a:schemeClr val="bg1"/>
                </a:solidFill>
                <a:effectLst/>
                <a:latin typeface="MS Reference Sans Serif" panose="020B0604030504040204" pitchFamily="34" charset="0"/>
              </a:rPr>
              <a:t>Kẻ Giả Dạng chắc chắn không thể tự nhiên xuất hiện trên con tàu </a:t>
            </a:r>
            <a:r>
              <a:rPr lang="vi-VN" sz="2400" b="1" i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MS Reference Sans Serif" panose="020B0604030504040204" pitchFamily="34" charset="0"/>
              </a:rPr>
              <a:t>The Skeld</a:t>
            </a:r>
            <a:r>
              <a:rPr lang="vi-VN" sz="2400" b="0" i="0" dirty="0">
                <a:solidFill>
                  <a:schemeClr val="accent6">
                    <a:lumMod val="75000"/>
                  </a:schemeClr>
                </a:solidFill>
                <a:effectLst/>
                <a:latin typeface="MS Reference Sans Serif" panose="020B0604030504040204" pitchFamily="34" charset="0"/>
              </a:rPr>
              <a:t> </a:t>
            </a:r>
            <a:r>
              <a:rPr lang="vi-VN" sz="2400" b="0" i="0" dirty="0">
                <a:solidFill>
                  <a:schemeClr val="bg1"/>
                </a:solidFill>
                <a:effectLst/>
                <a:latin typeface="MS Reference Sans Serif" panose="020B0604030504040204" pitchFamily="34" charset="0"/>
              </a:rPr>
              <a:t>được. Nó phải bắt nguồn từ một hành tinh nào đó. Và hành tinh đó là </a:t>
            </a:r>
            <a:r>
              <a:rPr lang="vi-VN" sz="2400" b="1" i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7030A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MS Reference Sans Serif" panose="020B0604030504040204" pitchFamily="34" charset="0"/>
              </a:rPr>
              <a:t>Polus</a:t>
            </a:r>
            <a:r>
              <a:rPr lang="vi-VN" sz="2400" b="0" i="0" dirty="0">
                <a:solidFill>
                  <a:schemeClr val="bg1"/>
                </a:solidFill>
                <a:effectLst/>
                <a:latin typeface="MS Reference Sans Serif" panose="020B0604030504040204" pitchFamily="34" charset="0"/>
              </a:rPr>
              <a:t>.  </a:t>
            </a:r>
          </a:p>
        </p:txBody>
      </p:sp>
    </p:spTree>
    <p:extLst>
      <p:ext uri="{BB962C8B-B14F-4D97-AF65-F5344CB8AC3E}">
        <p14:creationId xmlns:p14="http://schemas.microsoft.com/office/powerpoint/2010/main" val="8185296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81366C2-4AE2-451A-9678-97429B52E8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144000" cy="492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5450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8CE0555-3A03-4402-8B4C-CCF0FD5616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31FB945-2671-455C-B1DF-865EF91904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86" r="14904"/>
          <a:stretch>
            <a:fillRect/>
          </a:stretch>
        </p:blipFill>
        <p:spPr>
          <a:xfrm>
            <a:off x="71120" y="0"/>
            <a:ext cx="3210560" cy="2773680"/>
          </a:xfrm>
          <a:custGeom>
            <a:avLst/>
            <a:gdLst>
              <a:gd name="connsiteX0" fmla="*/ 917198 w 3210560"/>
              <a:gd name="connsiteY0" fmla="*/ 0 h 2773680"/>
              <a:gd name="connsiteX1" fmla="*/ 2293363 w 3210560"/>
              <a:gd name="connsiteY1" fmla="*/ 0 h 2773680"/>
              <a:gd name="connsiteX2" fmla="*/ 2370452 w 3210560"/>
              <a:gd name="connsiteY2" fmla="*/ 33728 h 2773680"/>
              <a:gd name="connsiteX3" fmla="*/ 3210560 w 3210560"/>
              <a:gd name="connsiteY3" fmla="*/ 1315720 h 2773680"/>
              <a:gd name="connsiteX4" fmla="*/ 1605280 w 3210560"/>
              <a:gd name="connsiteY4" fmla="*/ 2773680 h 2773680"/>
              <a:gd name="connsiteX5" fmla="*/ 0 w 3210560"/>
              <a:gd name="connsiteY5" fmla="*/ 1315720 h 2773680"/>
              <a:gd name="connsiteX6" fmla="*/ 840108 w 3210560"/>
              <a:gd name="connsiteY6" fmla="*/ 33728 h 2773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0560" h="2773680">
                <a:moveTo>
                  <a:pt x="917198" y="0"/>
                </a:moveTo>
                <a:lnTo>
                  <a:pt x="2293363" y="0"/>
                </a:lnTo>
                <a:lnTo>
                  <a:pt x="2370452" y="33728"/>
                </a:lnTo>
                <a:cubicBezTo>
                  <a:pt x="2870858" y="280618"/>
                  <a:pt x="3210560" y="762139"/>
                  <a:pt x="3210560" y="1315720"/>
                </a:cubicBezTo>
                <a:cubicBezTo>
                  <a:pt x="3210560" y="2120929"/>
                  <a:pt x="2491852" y="2773680"/>
                  <a:pt x="1605280" y="2773680"/>
                </a:cubicBezTo>
                <a:cubicBezTo>
                  <a:pt x="718708" y="2773680"/>
                  <a:pt x="0" y="2120929"/>
                  <a:pt x="0" y="1315720"/>
                </a:cubicBezTo>
                <a:cubicBezTo>
                  <a:pt x="0" y="762139"/>
                  <a:pt x="339702" y="280618"/>
                  <a:pt x="840108" y="33728"/>
                </a:cubicBezTo>
                <a:close/>
              </a:path>
            </a:pathLst>
          </a:custGeom>
          <a:ln>
            <a:solidFill>
              <a:schemeClr val="bg1"/>
            </a:solidFill>
          </a:ln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0D0BCAD-A8D2-4BD1-AC52-B8D32F6B9EAF}"/>
              </a:ext>
            </a:extLst>
          </p:cNvPr>
          <p:cNvCxnSpPr/>
          <p:nvPr/>
        </p:nvCxnSpPr>
        <p:spPr>
          <a:xfrm>
            <a:off x="2946400" y="2225040"/>
            <a:ext cx="555752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FB1F3EA-6CEA-4912-89A4-1161094EC331}"/>
              </a:ext>
            </a:extLst>
          </p:cNvPr>
          <p:cNvSpPr txBox="1"/>
          <p:nvPr/>
        </p:nvSpPr>
        <p:spPr>
          <a:xfrm>
            <a:off x="3556002" y="1455599"/>
            <a:ext cx="369823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4400" dirty="0">
                <a:solidFill>
                  <a:schemeClr val="bg1"/>
                </a:solidFill>
                <a:latin typeface="MS Reference Sans Serif" panose="020B0604030504040204" pitchFamily="34" charset="0"/>
              </a:rPr>
              <a:t>CÁCH CHƠI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4604DFB-0D53-4ED9-88FE-7A783401922D}"/>
              </a:ext>
            </a:extLst>
          </p:cNvPr>
          <p:cNvSpPr/>
          <p:nvPr/>
        </p:nvSpPr>
        <p:spPr>
          <a:xfrm>
            <a:off x="650240" y="2918459"/>
            <a:ext cx="7853680" cy="1927855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800" b="0" i="0" dirty="0">
                <a:solidFill>
                  <a:schemeClr val="bg1"/>
                </a:solidFill>
                <a:effectLst/>
                <a:latin typeface="MS Reference Sans Serif" panose="020B0604030504040204" pitchFamily="34" charset="0"/>
              </a:rPr>
              <a:t>Trong </a:t>
            </a:r>
            <a:r>
              <a:rPr lang="vi-VN" sz="2800" b="1" i="0" dirty="0">
                <a:solidFill>
                  <a:schemeClr val="bg1"/>
                </a:solidFill>
                <a:effectLst/>
                <a:latin typeface="MS Reference Sans Serif" panose="020B0604030504040204" pitchFamily="34" charset="0"/>
              </a:rPr>
              <a:t>Among Us</a:t>
            </a:r>
            <a:r>
              <a:rPr lang="vi-VN" sz="2800" b="0" i="0" dirty="0">
                <a:solidFill>
                  <a:schemeClr val="bg1"/>
                </a:solidFill>
                <a:effectLst/>
                <a:latin typeface="MS Reference Sans Serif" panose="020B0604030504040204" pitchFamily="34" charset="0"/>
              </a:rPr>
              <a:t>, bạn sẽ vào vai Crewmate - các phi hành gia, làm nhiệm vụ trên tàu không gian. Hoặc bạn sẽ là </a:t>
            </a:r>
            <a:r>
              <a:rPr lang="vi-VN" sz="2800" b="0" i="0" dirty="0">
                <a:solidFill>
                  <a:srgbClr val="FF0000"/>
                </a:solidFill>
                <a:effectLst/>
                <a:latin typeface="MS Reference Sans Serif" panose="020B0604030504040204" pitchFamily="34" charset="0"/>
              </a:rPr>
              <a:t>Impostor</a:t>
            </a:r>
            <a:r>
              <a:rPr lang="vi-VN" sz="2800" b="0" i="0" dirty="0">
                <a:solidFill>
                  <a:schemeClr val="bg1"/>
                </a:solidFill>
                <a:effectLst/>
                <a:latin typeface="MS Reference Sans Serif" panose="020B0604030504040204" pitchFamily="34" charset="0"/>
              </a:rPr>
              <a:t> - những kẻ giả mạo.</a:t>
            </a:r>
            <a:endParaRPr lang="vi-VN" sz="2800" dirty="0">
              <a:solidFill>
                <a:schemeClr val="bg1"/>
              </a:solidFill>
              <a:latin typeface="MS Reference Sans Serif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620432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EF8F108-5068-4419-9D1C-F2BD45A00E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4524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25215C0-67E4-48B5-ACBE-D2C0F98DB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8225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65F0F49-FB40-4B15-A52B-2B1209B2FB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6B93992-032E-4B24-AE66-77C9F677F73E}"/>
              </a:ext>
            </a:extLst>
          </p:cNvPr>
          <p:cNvSpPr txBox="1"/>
          <p:nvPr/>
        </p:nvSpPr>
        <p:spPr>
          <a:xfrm rot="10800000" flipV="1">
            <a:off x="429394" y="122268"/>
            <a:ext cx="85581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4800" dirty="0">
                <a:solidFill>
                  <a:schemeClr val="bg1"/>
                </a:solidFill>
                <a:latin typeface="MS Reference Sans Serif" panose="020B0604030504040204" pitchFamily="34" charset="0"/>
              </a:rPr>
              <a:t>Bài thuyết trình của mình đến đây là hết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85B1012-C447-4EE8-9EDD-972ED0252F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14196"/>
            <a:ext cx="1188458" cy="1301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3147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2.46914E-6 C 0.00938 -0.01142 0.04323 -0.02253 0.05504 -0.02253 C 0.13004 -0.02253 0.20729 0.15587 0.20729 0.33519 C 0.20729 0.24506 0.24583 0.15587 0.28229 0.15587 C 0.32066 0.15587 0.35729 0.24599 0.35729 0.33519 C 0.35729 0.29043 0.37674 0.24506 0.39601 0.24506 C 0.4151 0.24506 0.43455 0.28889 0.43455 0.33519 C 0.43455 0.31204 0.4441 0.29043 0.45399 0.29043 C 0.46337 0.29043 0.47292 0.31358 0.47292 0.33519 C 0.47292 0.32346 0.4783 0.31204 0.48281 0.31204 C 0.48507 0.31204 0.49236 0.32346 0.49236 0.33519 C 0.49236 0.32932 0.49497 0.32346 0.49722 0.32346 C 0.49722 0.32439 0.50226 0.32932 0.50226 0.33519 C 0.50226 0.33241 0.50226 0.32932 0.50486 0.32932 C 0.50486 0.33025 0.50764 0.33179 0.50764 0.33519 C 0.50764 0.33334 0.50764 0.33241 0.50764 0.33025 C 0.5099 0.33025 0.5099 0.33179 0.5099 0.33303 C 0.5125 0.33303 0.5125 0.33179 0.5125 0.33025 C 0.51528 0.33025 0.51528 0.33179 0.51528 0.33303 " pathEditMode="relative" rAng="0" ptsTypes="AAAAAAAAAAAAAAAAAAA">
                                      <p:cBhvr>
                                        <p:cTn id="10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764" y="156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227</TotalTime>
  <Words>169</Words>
  <Application>Microsoft Office PowerPoint</Application>
  <PresentationFormat>On-screen Show (16:9)</PresentationFormat>
  <Paragraphs>12</Paragraphs>
  <Slides>12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MS Reference Sans 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TrangAnh Lptop</dc:creator>
  <cp:lastModifiedBy>TrangAnh Lptop</cp:lastModifiedBy>
  <cp:revision>21</cp:revision>
  <dcterms:created xsi:type="dcterms:W3CDTF">2020-11-26T08:50:20Z</dcterms:created>
  <dcterms:modified xsi:type="dcterms:W3CDTF">2020-11-26T13:57:08Z</dcterms:modified>
</cp:coreProperties>
</file>